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407"/>
    <p:restoredTop sz="94592"/>
  </p:normalViewPr>
  <p:slideViewPr>
    <p:cSldViewPr snapToGrid="0" snapToObjects="1">
      <p:cViewPr varScale="1">
        <p:scale>
          <a:sx n="151" d="100"/>
          <a:sy n="151" d="100"/>
        </p:scale>
        <p:origin x="2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91695" cy="237744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14884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572000"/>
            <a:ext cx="12191695" cy="4572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1072865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 i="0">
                <a:solidFill>
                  <a:srgbClr val="C9A227"/>
                </a:solidFill>
                <a:latin typeface="Calibri"/>
              </a:rPr>
              <a:t>PROJEKT • TEMAT 7 • TURA III • MAJ–CZERWIEC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10728655" cy="10058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  <a:latin typeface="Calibri"/>
              </a:rPr>
              <a:t>Klasyfikacja jakości wina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728655" cy="6400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2000" b="0" i="1">
                <a:solidFill>
                  <a:srgbClr val="ECE3D0"/>
                </a:solidFill>
                <a:latin typeface="Calibri"/>
              </a:rPr>
              <a:t>Czy komputer potrafi ocenić wino tak jak ekspert?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77639"/>
            <a:ext cx="1072865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0" i="0">
                <a:solidFill>
                  <a:srgbClr val="ECE3D0"/>
                </a:solidFill>
                <a:latin typeface="Calibri"/>
              </a:rPr>
              <a:t>Porównanie 9 modeli uczenia maszynowego z zespołem głosującym (Majority Voting)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72865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700" b="1" i="0">
                <a:solidFill>
                  <a:srgbClr val="C9A227"/>
                </a:solidFill>
                <a:latin typeface="Calibri"/>
              </a:rPr>
              <a:t>Decision Tree   •   k-NN   •   Random Forest   →   VotingClassifier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60720"/>
            <a:ext cx="10728655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 i="0">
                <a:solidFill>
                  <a:srgbClr val="ECE3D0"/>
                </a:solidFill>
                <a:latin typeface="Calibri"/>
              </a:rPr>
              <a:t>Dawid Olko   |   zbiór: Wine Quality (Kaggle)   |   scikit-learn, pandas, plotly,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 czym właściwie jest ten projekt?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22159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 dirty="0" err="1">
                <a:solidFill>
                  <a:srgbClr val="ECE3D0"/>
                </a:solidFill>
                <a:latin typeface="Calibri"/>
              </a:rPr>
              <a:t>Krótkie</a:t>
            </a:r>
            <a:r>
              <a:rPr sz="1200" b="0" i="0" dirty="0">
                <a:solidFill>
                  <a:srgbClr val="ECE3D0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ECE3D0"/>
                </a:solidFill>
                <a:latin typeface="Calibri"/>
              </a:rPr>
              <a:t>wyjaśnieni</a:t>
            </a:r>
            <a:r>
              <a:rPr lang="pl-PL" sz="1200" b="0" i="0" dirty="0">
                <a:solidFill>
                  <a:srgbClr val="ECE3D0"/>
                </a:solidFill>
                <a:latin typeface="Calibri"/>
              </a:rPr>
              <a:t>e</a:t>
            </a:r>
            <a:endParaRPr sz="1200" b="0" i="0" dirty="0">
              <a:solidFill>
                <a:srgbClr val="ECE3D0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10972800" cy="850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dirty="0" err="1">
                <a:solidFill>
                  <a:srgbClr val="1F2A44"/>
                </a:solidFill>
                <a:latin typeface="Calibri"/>
              </a:rPr>
              <a:t>Wyobraź</a:t>
            </a:r>
            <a:r>
              <a:rPr lang="pl-PL" sz="1400" dirty="0">
                <a:solidFill>
                  <a:srgbClr val="1F2A44"/>
                </a:solidFill>
                <a:latin typeface="Calibri"/>
              </a:rPr>
              <a:t>my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sobie</a:t>
            </a:r>
            <a:r>
              <a:rPr sz="1400" dirty="0">
                <a:solidFill>
                  <a:srgbClr val="1F2A44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że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masz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tysiąc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próbek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wina</a:t>
            </a:r>
            <a:r>
              <a:rPr sz="1400" dirty="0">
                <a:solidFill>
                  <a:srgbClr val="1F2A44"/>
                </a:solidFill>
                <a:latin typeface="Calibri"/>
              </a:rPr>
              <a:t>, a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dla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każdej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znasz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wynik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11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pomiarów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chemicznych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(np.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ile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alkoholu</a:t>
            </a:r>
            <a:r>
              <a:rPr sz="1400" dirty="0">
                <a:solidFill>
                  <a:srgbClr val="1F2A44"/>
                </a:solidFill>
                <a:latin typeface="Calibri"/>
              </a:rPr>
              <a:t>, jak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kwaśne</a:t>
            </a:r>
            <a:r>
              <a:rPr sz="1400" dirty="0">
                <a:solidFill>
                  <a:srgbClr val="1F2A44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ile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cukru</a:t>
            </a:r>
            <a:r>
              <a:rPr sz="1400" dirty="0">
                <a:solidFill>
                  <a:srgbClr val="1F2A44"/>
                </a:solidFill>
                <a:latin typeface="Calibri"/>
              </a:rPr>
              <a:t>).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Eksperci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ocenili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każde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wino w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skali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3–8.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Pytanie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brzmi</a:t>
            </a:r>
            <a:r>
              <a:rPr sz="1400" dirty="0">
                <a:solidFill>
                  <a:srgbClr val="1F2A44"/>
                </a:solidFill>
                <a:latin typeface="Calibri"/>
              </a:rPr>
              <a:t>: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czy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komputer</a:t>
            </a:r>
            <a:r>
              <a:rPr sz="1400" dirty="0">
                <a:solidFill>
                  <a:srgbClr val="1F2A44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patrząc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tylko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na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te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liczby</a:t>
            </a:r>
            <a:r>
              <a:rPr sz="1400" dirty="0">
                <a:solidFill>
                  <a:srgbClr val="1F2A44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potrafi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zgadnąć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ocenę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eksperta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dla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nowego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wina</a:t>
            </a:r>
            <a:r>
              <a:rPr sz="1400" dirty="0">
                <a:solidFill>
                  <a:srgbClr val="1F2A44"/>
                </a:solidFill>
                <a:latin typeface="Calibri"/>
              </a:rPr>
              <a:t>,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którego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jeszcze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nie</a:t>
            </a:r>
            <a:r>
              <a:rPr sz="1400" dirty="0">
                <a:solidFill>
                  <a:srgbClr val="1F2A44"/>
                </a:solidFill>
                <a:latin typeface="Calibri"/>
              </a:rPr>
              <a:t> </a:t>
            </a:r>
            <a:r>
              <a:rPr sz="1400" dirty="0" err="1">
                <a:solidFill>
                  <a:srgbClr val="1F2A44"/>
                </a:solidFill>
                <a:latin typeface="Calibri"/>
              </a:rPr>
              <a:t>widział</a:t>
            </a:r>
            <a:r>
              <a:rPr sz="1400" dirty="0">
                <a:solidFill>
                  <a:srgbClr val="1F2A44"/>
                </a:solidFill>
                <a:latin typeface="Calibri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7A1F3A"/>
                </a:solidFill>
                <a:latin typeface="Calibri"/>
              </a:rPr>
              <a:t>Co robimy w trzech krokach?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788920"/>
            <a:ext cx="777240" cy="86868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953512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2788920"/>
            <a:ext cx="10058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2862072"/>
            <a:ext cx="9601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UCZYMY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17296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dirty="0" err="1">
                <a:solidFill>
                  <a:srgbClr val="1F2A44"/>
                </a:solidFill>
                <a:latin typeface="Calibri"/>
              </a:rPr>
              <a:t>Pokazujemy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komputerowi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tysiąc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win z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ocenami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i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pozwalamy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mu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znaleźć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wzorce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— np. „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wina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z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większym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alkoholem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mają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zwykle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wyższe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oceny</a:t>
            </a:r>
            <a:r>
              <a:rPr sz="1200" dirty="0">
                <a:solidFill>
                  <a:srgbClr val="1F2A44"/>
                </a:solidFill>
                <a:latin typeface="Calibri"/>
              </a:rPr>
              <a:t>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840479"/>
            <a:ext cx="777240" cy="86868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005071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3840479"/>
            <a:ext cx="10058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645920" y="3913631"/>
            <a:ext cx="9601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TESTUJEMY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4224527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Dajemy mu nowe wina (których nie widział wcześniej) i prosimy o ocenę. Sprawdzamy, ile razy zgadł poprawnie.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4892040"/>
            <a:ext cx="777240" cy="86868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0080" y="5056632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63040" y="4892040"/>
            <a:ext cx="10058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645920" y="4965192"/>
            <a:ext cx="9601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PORÓWNUJEMY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5276088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Sprawdzamy 9 różnych „mózgów” (algorytmów) i jeden zespół głosujący. Wybieramy najlepszy.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0" i="1">
                <a:solidFill>
                  <a:srgbClr val="555B6E"/>
                </a:solidFill>
                <a:latin typeface="Calibri"/>
              </a:rPr>
              <a:t>Zadanie nazywa się klasyfikacją wieloklasową — wybór JEDNEJ z kilku możliwych ocen (3, 4, 5, 6, 7 lub 8).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Plan prezentacji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20 slajdów — od zera do gotowych wyników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5486400" cy="3190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500" dirty="0">
                <a:solidFill>
                  <a:srgbClr val="1F2A44"/>
                </a:solidFill>
                <a:latin typeface="Calibri"/>
              </a:rPr>
              <a:t>1. 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Strona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tytułowa</a:t>
            </a:r>
            <a:endParaRPr sz="1500" dirty="0">
              <a:solidFill>
                <a:srgbClr val="1F2A44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500" dirty="0">
                <a:solidFill>
                  <a:srgbClr val="1F2A44"/>
                </a:solidFill>
                <a:latin typeface="Calibri"/>
              </a:rPr>
              <a:t>2.  O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czym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jest ten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projekt</a:t>
            </a:r>
            <a:r>
              <a:rPr sz="1500" dirty="0">
                <a:solidFill>
                  <a:srgbClr val="1F2A44"/>
                </a:solidFill>
                <a:latin typeface="Calibri"/>
              </a:rPr>
              <a:t>?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500" dirty="0">
                <a:solidFill>
                  <a:srgbClr val="1F2A44"/>
                </a:solidFill>
                <a:latin typeface="Calibri"/>
              </a:rPr>
              <a:t>3.  Plan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prezentacji</a:t>
            </a:r>
            <a:endParaRPr sz="1500" dirty="0">
              <a:solidFill>
                <a:srgbClr val="1F2A44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500" dirty="0">
                <a:solidFill>
                  <a:srgbClr val="1F2A44"/>
                </a:solidFill>
                <a:latin typeface="Calibri"/>
              </a:rPr>
              <a:t>4. 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Temat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nr 7 — co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kazano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nam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zrobić</a:t>
            </a:r>
            <a:r>
              <a:rPr sz="1500" dirty="0">
                <a:solidFill>
                  <a:srgbClr val="1F2A44"/>
                </a:solidFill>
                <a:latin typeface="Calibri"/>
              </a:rPr>
              <a:t>?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500" dirty="0">
                <a:solidFill>
                  <a:srgbClr val="1F2A44"/>
                </a:solidFill>
                <a:latin typeface="Calibri"/>
              </a:rPr>
              <a:t>5. 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Zbiór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danych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Wine Quality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500" dirty="0">
                <a:solidFill>
                  <a:srgbClr val="1F2A44"/>
                </a:solidFill>
                <a:latin typeface="Calibri"/>
              </a:rPr>
              <a:t>6. 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Słownik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podstawowych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pojęć</a:t>
            </a:r>
            <a:endParaRPr sz="1500" dirty="0">
              <a:solidFill>
                <a:srgbClr val="1F2A44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500" dirty="0">
                <a:solidFill>
                  <a:srgbClr val="1F2A44"/>
                </a:solidFill>
                <a:latin typeface="Calibri"/>
              </a:rPr>
              <a:t>7. 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Eksploracja</a:t>
            </a:r>
            <a:r>
              <a:rPr sz="1500" dirty="0">
                <a:solidFill>
                  <a:srgbClr val="1F2A44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rozkład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ocen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wina</a:t>
            </a:r>
            <a:endParaRPr sz="1500" dirty="0">
              <a:solidFill>
                <a:srgbClr val="1F2A44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500" dirty="0">
                <a:solidFill>
                  <a:srgbClr val="1F2A44"/>
                </a:solidFill>
                <a:latin typeface="Calibri"/>
              </a:rPr>
              <a:t>8. 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Eksploracja</a:t>
            </a:r>
            <a:r>
              <a:rPr sz="1500" dirty="0">
                <a:solidFill>
                  <a:srgbClr val="1F2A44"/>
                </a:solidFill>
                <a:latin typeface="Calibri"/>
              </a:rPr>
              <a:t>: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korelacje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cech</a:t>
            </a:r>
            <a:endParaRPr sz="1500" dirty="0">
              <a:solidFill>
                <a:srgbClr val="1F2A44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500" dirty="0">
                <a:solidFill>
                  <a:srgbClr val="1F2A44"/>
                </a:solidFill>
                <a:latin typeface="Calibri"/>
              </a:rPr>
              <a:t>9. 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Architektura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rozwiązania</a:t>
            </a:r>
            <a:endParaRPr sz="1500" dirty="0">
              <a:solidFill>
                <a:srgbClr val="1F2A44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500" dirty="0">
                <a:solidFill>
                  <a:srgbClr val="1F2A44"/>
                </a:solidFill>
                <a:latin typeface="Calibri"/>
              </a:rPr>
              <a:t>10. Pipeline: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skalowanie</a:t>
            </a:r>
            <a:r>
              <a:rPr sz="1500" dirty="0">
                <a:solidFill>
                  <a:srgbClr val="1F2A44"/>
                </a:solidFill>
                <a:latin typeface="Calibri"/>
              </a:rPr>
              <a:t> + </a:t>
            </a:r>
            <a:r>
              <a:rPr sz="1500" dirty="0" err="1">
                <a:solidFill>
                  <a:srgbClr val="1F2A44"/>
                </a:solidFill>
                <a:latin typeface="Calibri"/>
              </a:rPr>
              <a:t>klasyfikator</a:t>
            </a:r>
            <a:endParaRPr sz="1500" dirty="0">
              <a:solidFill>
                <a:srgbClr val="1F2A44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936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>
                <a:solidFill>
                  <a:srgbClr val="7A1F3A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11. Trzy rodziny modeli — kto jak myśli?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>
                <a:solidFill>
                  <a:srgbClr val="7A1F3A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12. Walidacja krzyżowa 5-fold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>
                <a:solidFill>
                  <a:srgbClr val="7A1F3A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13. Zespół Majority Voting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>
                <a:solidFill>
                  <a:srgbClr val="7A1F3A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14. WYCIEK DANYCH — kluczowy slajd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>
                <a:solidFill>
                  <a:srgbClr val="7A1F3A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15. Odtwarzalność wyników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>
                <a:solidFill>
                  <a:srgbClr val="7A1F3A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16. Wykres porównujący 9 modeli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>
                <a:solidFill>
                  <a:srgbClr val="7A1F3A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17. Tabela szczegółowych wyników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>
                <a:solidFill>
                  <a:srgbClr val="7A1F3A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18. Agregaty rodzin + interpretacja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>
                <a:solidFill>
                  <a:srgbClr val="7A1F3A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19. Wygenerowane artefakty + Streamlit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500" b="1">
                <a:solidFill>
                  <a:srgbClr val="7A1F3A"/>
                </a:solidFill>
                <a:latin typeface="Calibri"/>
              </a:rPr>
              <a:t>•  </a:t>
            </a:r>
            <a:r>
              <a:rPr sz="1500">
                <a:solidFill>
                  <a:srgbClr val="1F2A44"/>
                </a:solidFill>
                <a:latin typeface="Calibri"/>
              </a:rPr>
              <a:t>20. Podsumowanie i wnioski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Treść tematu nr 7 — co dokładnie polecono nam zrobić?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Cytat z polecenia + tłumaczenie na język codzienny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143000"/>
            <a:ext cx="10881360" cy="1691640"/>
          </a:xfrm>
          <a:prstGeom prst="rect">
            <a:avLst/>
          </a:prstGeom>
          <a:solidFill>
            <a:srgbClr val="FFFFFF"/>
          </a:solidFill>
          <a:ln w="25400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234440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7A1F3A"/>
                </a:solidFill>
                <a:latin typeface="Calibri"/>
              </a:rPr>
              <a:t>Treść polecenia (cytat oryginalny):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554480"/>
            <a:ext cx="10332720" cy="9144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0" i="1">
                <a:solidFill>
                  <a:srgbClr val="1F2A44"/>
                </a:solidFill>
                <a:latin typeface="Calibri"/>
              </a:rPr>
              <a:t>„Bazowe modele: DecisionTree, kNN, Random Forest (każdy dla trzech wariantów hiperparametrów). Zespół predykcyjny utworzony jest za pomocą majority voting. Miary jakości: accuracy, balanced accuracy.”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68880"/>
            <a:ext cx="10332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Zbiór: Wine Quality • https://www.kaggle.com/datasets/yasserh/wine-quality-dataset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75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7A1F3A"/>
                </a:solidFill>
                <a:latin typeface="Calibri"/>
              </a:rPr>
              <a:t>Co to oznacza po ludzku?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29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1F2A44"/>
                </a:solidFill>
                <a:latin typeface="Calibri"/>
              </a:rPr>
              <a:t>Mamy zbudować trzy różne typy modeli (jak trzy różne sposoby myślenia), każdy w trzech ustawieniach (np. „proste drzewo”, „średnie drzewo”, „głębokie drzewo”). Łącznie daje to 9 modeli. Potem łączymy ich w zespół, który głosuje większością.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519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7A1F3A"/>
                </a:solidFill>
                <a:latin typeface="Calibri"/>
              </a:rPr>
              <a:t>Co dokładnie projekt realizuje?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6634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7A1F3A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3 rodziny modeli × 3 warianty ustawień  →  9 niezależnych klasyfikatorów.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7A1F3A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Zespół: VotingClassifier z głosowaniem większościowym (każdy model oddaje 1 głos).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7A1F3A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Walidacja krzyżowa 5-fold: każdy model testowany na 5 różnych podziałach danych.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7A1F3A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Dwie miary jakości: accuracy (% trafień) i balanced_accuracy (uczciwa dla rzadkich klas).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1">
                <a:solidFill>
                  <a:srgbClr val="7A1F3A"/>
                </a:solidFill>
                <a:latin typeface="Calibri"/>
              </a:rPr>
              <a:t>•  </a:t>
            </a:r>
            <a:r>
              <a:rPr sz="1300">
                <a:solidFill>
                  <a:srgbClr val="1F2A44"/>
                </a:solidFill>
                <a:latin typeface="Calibri"/>
              </a:rPr>
              <a:t>Brak przecieku danych: dane testowe nigdy nie wpływają na uczenie.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Zbiór danych — Wine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1143 próbek wina czerwonego z 11 pomiarów chemicznych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>
                <a:solidFill>
                  <a:srgbClr val="1F2A44"/>
                </a:solidFill>
                <a:latin typeface="Calibri"/>
              </a:rPr>
              <a:t>Zbiór pochodzi z portalu Kaggle. Każdy wiersz = jedna próbka wina. Każda kolumna = jeden pomiar chemiczny (cecha) lub ocena jakości (etykieta). Naszym zadaniem jest nauczyć komputer przewidywać kolumnę „quality” na podstawie pozostałych 11 kolumn.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03120"/>
            <a:ext cx="26060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103120"/>
            <a:ext cx="2606040" cy="164592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359152"/>
            <a:ext cx="2331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 i="0">
                <a:solidFill>
                  <a:srgbClr val="1F2A44"/>
                </a:solidFill>
                <a:latin typeface="Calibri"/>
              </a:rPr>
              <a:t>1 143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2331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Liczba próbek wina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2103120"/>
            <a:ext cx="26060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83280" y="2103120"/>
            <a:ext cx="2606040" cy="164592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2359152"/>
            <a:ext cx="2331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 i="0">
                <a:solidFill>
                  <a:srgbClr val="1F2A44"/>
                </a:solidFill>
                <a:latin typeface="Calibri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880360"/>
            <a:ext cx="2331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Pomiary chemiczne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103120"/>
            <a:ext cx="260604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26480" y="2103120"/>
            <a:ext cx="2606040" cy="16459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2359152"/>
            <a:ext cx="23317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 i="0">
                <a:solidFill>
                  <a:srgbClr val="1F2A44"/>
                </a:solidFill>
                <a:latin typeface="Calibri"/>
              </a:rPr>
              <a:t>3 – 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880360"/>
            <a:ext cx="23317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Możliwe oceny (klasy)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2103120"/>
            <a:ext cx="269748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869680" y="2103120"/>
            <a:ext cx="2697480" cy="1645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2359152"/>
            <a:ext cx="24231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600" b="1" i="0">
                <a:solidFill>
                  <a:srgbClr val="1F2A44"/>
                </a:solidFill>
                <a:latin typeface="Calibri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880360"/>
            <a:ext cx="24231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Brakujące wartości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7A1F3A"/>
                </a:solidFill>
                <a:latin typeface="Calibri"/>
              </a:rPr>
              <a:t>Cechy wejściowe (X) — co mierzymy w winie: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931920"/>
            <a:ext cx="10972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7A1F3A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fixed acidity, volatile acidity, citric acid — kwasowość (kwas winowy, octowy, cytrynowy).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7A1F3A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residual sugar — cukier resztkowy (g/L); chlorides — sól; sulphates — siarczany.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7A1F3A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free / total sulfur dioxide — dwutlenek siarki (wolny i całkowity), naturalny konserwant.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7A1F3A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density — gęstość (g/cm³); pH — kwasowość pH; alcohol — zawartość alkoholu (% obj.).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libri"/>
              </a:rPr>
              <a:t>Etykieta (y): kolumna quality — średnia ocena 3 sommelierów (3 = najgorzej, 8 = najlepiej).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1">
                <a:solidFill>
                  <a:srgbClr val="555B6E"/>
                </a:solidFill>
                <a:latin typeface="Calibri"/>
              </a:rPr>
              <a:t>Kolumna „Id” usuwana przed nauką — to numer wiersza, nie cecha próbki.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468" y="164592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Słownik pojęć — co znaczą hasła używane w projekcie?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Krótkie definicje przed wejściem w szczegóły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50494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777926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858000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 dirty="0">
                <a:solidFill>
                  <a:srgbClr val="C9A227"/>
                </a:solidFill>
                <a:latin typeface="Calibri"/>
              </a:rPr>
              <a:t>6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188720"/>
            <a:ext cx="55321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280160"/>
            <a:ext cx="5257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Klasyfikacja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1645920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Przyporządkowanie próbki do jednej z kilku kategorii. Tu: do jednej z ocen 3–8.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130552"/>
            <a:ext cx="55321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2221992"/>
            <a:ext cx="5257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Cecha (feature)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247345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Liczba opisująca próbkę — np. zawartość alkoholu. W naszym projekcie jest ich 11.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72384"/>
            <a:ext cx="55321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3163824"/>
            <a:ext cx="5257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Etykieta (label)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52958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Prawidłowa odpowiedź, której uczy się model. Tu: ocena eksperta.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014216"/>
            <a:ext cx="55321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4105656"/>
            <a:ext cx="5257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" y="4268004"/>
            <a:ext cx="5257800" cy="514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dirty="0">
                <a:solidFill>
                  <a:srgbClr val="1F2A44"/>
                </a:solidFill>
                <a:latin typeface="Calibri"/>
              </a:rPr>
              <a:t>Program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komputerowy</a:t>
            </a:r>
            <a:r>
              <a:rPr sz="1200" dirty="0">
                <a:solidFill>
                  <a:srgbClr val="1F2A44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który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po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nauczeniu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potrafi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wskazać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klasę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dla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nowej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próbki</a:t>
            </a:r>
            <a:r>
              <a:rPr sz="1200" dirty="0">
                <a:solidFill>
                  <a:srgbClr val="1F2A44"/>
                </a:solidFill>
                <a:latin typeface="Calibri"/>
              </a:rPr>
              <a:t>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6" y="4969636"/>
            <a:ext cx="55321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" y="5047488"/>
            <a:ext cx="5257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Hiperparametr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5413248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Ustawienie modelu wybierane PRZED treningiem — np. „głębokość drzewa = 5”.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188720"/>
            <a:ext cx="55321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6792" y="1280160"/>
            <a:ext cx="5257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Trening /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1563624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dirty="0" err="1">
                <a:solidFill>
                  <a:srgbClr val="1F2A44"/>
                </a:solidFill>
                <a:latin typeface="Calibri"/>
              </a:rPr>
              <a:t>Trening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=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pokazujemy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modelowi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dane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z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odpowiedziami</a:t>
            </a:r>
            <a:r>
              <a:rPr sz="1200" dirty="0">
                <a:solidFill>
                  <a:srgbClr val="1F2A44"/>
                </a:solidFill>
                <a:latin typeface="Calibri"/>
              </a:rPr>
              <a:t>. Test =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sprawdzamy</a:t>
            </a:r>
            <a:r>
              <a:rPr sz="1200" dirty="0">
                <a:solidFill>
                  <a:srgbClr val="1F2A44"/>
                </a:solidFill>
                <a:latin typeface="Calibri"/>
              </a:rPr>
              <a:t>,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czy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zgaduje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na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nowych</a:t>
            </a:r>
            <a:r>
              <a:rPr sz="1200" dirty="0">
                <a:solidFill>
                  <a:srgbClr val="1F2A44"/>
                </a:solidFill>
                <a:latin typeface="Calibri"/>
              </a:rPr>
              <a:t>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2130552"/>
            <a:ext cx="55321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336792" y="2221992"/>
            <a:ext cx="5257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Walidacja krzyżowa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36792" y="258775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Powtarzanie testu 5 razy na różnych podziałach danych — wynik jest uczciwszy.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072384"/>
            <a:ext cx="55321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09360" y="3118104"/>
            <a:ext cx="5257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Skalowanie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3364992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dirty="0" err="1">
                <a:solidFill>
                  <a:srgbClr val="1F2A44"/>
                </a:solidFill>
                <a:latin typeface="Calibri"/>
              </a:rPr>
              <a:t>Zamiana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liczb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tak</a:t>
            </a:r>
            <a:r>
              <a:rPr sz="1200" dirty="0">
                <a:solidFill>
                  <a:srgbClr val="1F2A44"/>
                </a:solidFill>
                <a:latin typeface="Calibri"/>
              </a:rPr>
              <a:t>, by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były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w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porównywalnym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zakresie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(np. 0–1).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Pomaga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niektórym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modelom</a:t>
            </a:r>
            <a:r>
              <a:rPr sz="1200" dirty="0">
                <a:solidFill>
                  <a:srgbClr val="1F2A44"/>
                </a:solidFill>
                <a:latin typeface="Calibri"/>
              </a:rPr>
              <a:t>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4014216"/>
            <a:ext cx="55321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36792" y="4105656"/>
            <a:ext cx="5257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36792" y="4471416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Procent zgadniętych próbek. Prosta i intuicyjna miara skuteczności.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4956048"/>
            <a:ext cx="5532120" cy="868680"/>
          </a:xfrm>
          <a:prstGeom prst="rect">
            <a:avLst/>
          </a:prstGeom>
          <a:solidFill>
            <a:srgbClr val="FFFFFF"/>
          </a:solidFill>
          <a:ln w="15875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336792" y="5047488"/>
            <a:ext cx="5257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Wyciek danych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6792" y="5294376"/>
            <a:ext cx="5257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dirty="0" err="1">
                <a:solidFill>
                  <a:srgbClr val="1F2A44"/>
                </a:solidFill>
                <a:latin typeface="Calibri"/>
              </a:rPr>
              <a:t>Gdy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informacja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z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testu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„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przecieka</a:t>
            </a:r>
            <a:r>
              <a:rPr sz="1200" dirty="0">
                <a:solidFill>
                  <a:srgbClr val="1F2A44"/>
                </a:solidFill>
                <a:latin typeface="Calibri"/>
              </a:rPr>
              <a:t>” do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treningu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—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wyniki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wtedy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kłamią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(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są</a:t>
            </a:r>
            <a:r>
              <a:rPr sz="1200" dirty="0">
                <a:solidFill>
                  <a:srgbClr val="1F2A44"/>
                </a:solidFill>
                <a:latin typeface="Calibri"/>
              </a:rPr>
              <a:t> </a:t>
            </a:r>
            <a:r>
              <a:rPr sz="1200" dirty="0" err="1">
                <a:solidFill>
                  <a:srgbClr val="1F2A44"/>
                </a:solidFill>
                <a:latin typeface="Calibri"/>
              </a:rPr>
              <a:t>zawyżone</a:t>
            </a:r>
            <a:r>
              <a:rPr sz="1200" dirty="0">
                <a:solidFill>
                  <a:srgbClr val="1F2A44"/>
                </a:solidFill>
                <a:latin typeface="Calibri"/>
              </a:rPr>
              <a:t>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Eksploracja danych — jak wyglądają oceny wina w zbiorze?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Wykres rozkładu kolumny „quality”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7</a:t>
            </a:r>
          </a:p>
        </p:txBody>
      </p:sp>
      <p:pic>
        <p:nvPicPr>
          <p:cNvPr id="10" name="Picture 9" descr="img_rozka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7589520" cy="404774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29600" y="118872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Co to za wykres?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55448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Słupki pokazują, ile próbek wina w naszym zbiorze ma daną ocenę. Im wyższy słupek, tym więcej takich win mamy.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01752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Najważniejsze obserwacje: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429000"/>
            <a:ext cx="3657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Najwięcej win ma ocenę 5 lub 6 (przeciętne).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Wina bardzo dobre (7) i bardzo słabe (4) są rzadsze.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Skrajne oceny 3 i 8 mają tylko po kilkanaście próbek.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Zbiór jest niezbalansowany — trudno nauczyć się rzadkich klas.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57784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555B6E"/>
                </a:solidFill>
                <a:latin typeface="Calibri"/>
              </a:rPr>
              <a:t>Dlatego oprócz „accuracy” liczymy też „balanced_accuracy” — uczciwszą miarę przy nierównych klasach.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Eksploracja — które cechy idą w parze z jakością?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Macierz korelacji (współczynnik Pearsona)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8</a:t>
            </a:r>
          </a:p>
        </p:txBody>
      </p:sp>
      <p:pic>
        <p:nvPicPr>
          <p:cNvPr id="10" name="Picture 9" descr="img_korelac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858000" cy="533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79" y="1188720"/>
            <a:ext cx="42976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Jak czytać tę mapę kolorów?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1554480"/>
            <a:ext cx="4297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Każda komórka pokazuje, jak silnie dwie cechy są ze sobą powiązane. Wartości od –1 do +1. Czerwone = razem rosną. Niebieskie = jedna rośnie, druga maleje. Białe = brak związku.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108960"/>
            <a:ext cx="42976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Co z tego wynika dla naszego problemu?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520440"/>
            <a:ext cx="42976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alcohol — najsilniej dodatnio związany z oceną (więcej alkoholu → wyższa ocena).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volatile acidity — ujemnie (octowy posmak obniża ocenę).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fixed acidity i density — silnie skorelowane między sobą (gęstsze wino bywa kwaśniejsze).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Wykres służy TYLKO do oglądania — nie wybieramy na jego podstawie cech (uniknięcie wycieku).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Do modeli trafia komplet wszystkich 11 cech.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8467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Architektura rozwiązania — jak działa cały eksperyment?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Pięć kroków od pliku CSV do tabel z wynikami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9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2148840" cy="14630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444752"/>
            <a:ext cx="19659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WineQT.csv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65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CE3D0"/>
                </a:solidFill>
                <a:latin typeface="Calibri"/>
              </a:rPr>
              <a:t>Wczytanie danych</a:t>
            </a:r>
          </a:p>
          <a:p>
            <a:pPr algn="ctr"/>
            <a:r>
              <a:rPr sz="1000">
                <a:solidFill>
                  <a:srgbClr val="ECE3D0"/>
                </a:solidFill>
                <a:latin typeface="Calibri"/>
              </a:rPr>
              <a:t>sprawdzenie braków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624328" y="1828800"/>
            <a:ext cx="118872" cy="365760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88920" y="1280160"/>
            <a:ext cx="2148840" cy="146304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1444752"/>
            <a:ext cx="19659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1965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CE3D0"/>
                </a:solidFill>
                <a:latin typeface="Calibri"/>
              </a:rPr>
              <a:t>Skalowanie</a:t>
            </a:r>
          </a:p>
          <a:p>
            <a:pPr algn="ctr"/>
            <a:r>
              <a:rPr sz="1000">
                <a:solidFill>
                  <a:srgbClr val="ECE3D0"/>
                </a:solidFill>
                <a:latin typeface="Calibri"/>
              </a:rPr>
              <a:t>→ klasyfikator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956048" y="1828800"/>
            <a:ext cx="118872" cy="365760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120640" y="1280160"/>
            <a:ext cx="2148840" cy="14630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1444752"/>
            <a:ext cx="19659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5-fold 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1965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CE3D0"/>
                </a:solidFill>
                <a:latin typeface="Calibri"/>
              </a:rPr>
              <a:t>Walidacja</a:t>
            </a:r>
          </a:p>
          <a:p>
            <a:pPr algn="ctr"/>
            <a:r>
              <a:rPr sz="1000">
                <a:solidFill>
                  <a:srgbClr val="ECE3D0"/>
                </a:solidFill>
                <a:latin typeface="Calibri"/>
              </a:rPr>
              <a:t> krzyżowa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287768" y="1828800"/>
            <a:ext cx="118872" cy="365760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452359" y="1280160"/>
            <a:ext cx="2148840" cy="146304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43799" y="1444752"/>
            <a:ext cx="19659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 modeli
+ Voting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43799" y="1965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CE3D0"/>
                </a:solidFill>
                <a:latin typeface="Calibri"/>
              </a:rPr>
              <a:t>DT, kNN, RF</a:t>
            </a:r>
          </a:p>
          <a:p>
            <a:pPr algn="ctr"/>
            <a:r>
              <a:rPr sz="1000">
                <a:solidFill>
                  <a:srgbClr val="ECE3D0"/>
                </a:solidFill>
                <a:latin typeface="Calibri"/>
              </a:rPr>
              <a:t>+ głosowanie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619487" y="1828800"/>
            <a:ext cx="118872" cy="365760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784080" y="1280160"/>
            <a:ext cx="2148840" cy="14630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75520" y="1444752"/>
            <a:ext cx="19659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Wyniki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1965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>
                <a:solidFill>
                  <a:srgbClr val="ECE3D0"/>
                </a:solidFill>
                <a:latin typeface="Calibri"/>
              </a:rPr>
              <a:t>CSV, LaTeX,</a:t>
            </a:r>
          </a:p>
          <a:p>
            <a:pPr algn="ctr"/>
            <a:r>
              <a:rPr sz="1000">
                <a:solidFill>
                  <a:srgbClr val="ECE3D0"/>
                </a:solidFill>
                <a:latin typeface="Calibri"/>
              </a:rPr>
              <a:t>wykresy 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7A1F3A"/>
                </a:solidFill>
                <a:latin typeface="Calibri"/>
              </a:rPr>
              <a:t>Co dzieje się w każdym kroku?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733" y="3420533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(1) Wczytujemy plik CSV z 1143 winami i sprawdzamy, czy nie brakuje wartości. (2) Budujemy „taśmę produkcyjną” — pipeline, w którym najpierw skalujemy liczby do zakresu [0, 1], a potem podajemy je do klasyfikatora. (3) Stosujemy walidację krzyżową: dzielimy zbiór na 5 części, każdą po kolei robimy testem, a pozostałe 4 — treningiem. (4) Powtarzamy to dla 9 modeli i dla zespołu głosującego. (5) Zapisujemy wszystkie wyniki w postaci tabel (CSV, LaTeX) i wykresów (HTML, PNG).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2287" y="4946904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 dirty="0" err="1">
                <a:solidFill>
                  <a:srgbClr val="7A1F3A"/>
                </a:solidFill>
                <a:latin typeface="Calibri"/>
              </a:rPr>
              <a:t>Struktura</a:t>
            </a:r>
            <a:r>
              <a:rPr sz="1400" b="1" i="0" dirty="0">
                <a:solidFill>
                  <a:srgbClr val="7A1F3A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7A1F3A"/>
                </a:solidFill>
                <a:latin typeface="Calibri"/>
              </a:rPr>
              <a:t>kodu</a:t>
            </a:r>
            <a:r>
              <a:rPr sz="1400" b="1" i="0" dirty="0">
                <a:solidFill>
                  <a:srgbClr val="7A1F3A"/>
                </a:solidFill>
                <a:latin typeface="Calibri"/>
              </a:rPr>
              <a:t> w </a:t>
            </a:r>
            <a:r>
              <a:rPr sz="1400" b="1" i="0" dirty="0" err="1">
                <a:solidFill>
                  <a:srgbClr val="7A1F3A"/>
                </a:solidFill>
                <a:latin typeface="Calibri"/>
              </a:rPr>
              <a:t>repozytorium</a:t>
            </a:r>
            <a:r>
              <a:rPr sz="1400" b="1" i="0" dirty="0">
                <a:solidFill>
                  <a:srgbClr val="7A1F3A"/>
                </a:solidFill>
                <a:latin typeface="Calibri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221224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src</a:t>
            </a:r>
            <a:r>
              <a:rPr sz="1100" dirty="0">
                <a:solidFill>
                  <a:srgbClr val="1F2A44"/>
                </a:solidFill>
                <a:latin typeface="Calibri"/>
              </a:rPr>
              <a:t>/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config.py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—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ścieżki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do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plików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oraz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RANDOM_STATE = 42 (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jeden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seed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na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całość</a:t>
            </a:r>
            <a:r>
              <a:rPr sz="1100" dirty="0">
                <a:solidFill>
                  <a:srgbClr val="1F2A44"/>
                </a:solidFill>
                <a:latin typeface="Calibri"/>
              </a:rPr>
              <a:t>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src</a:t>
            </a:r>
            <a:r>
              <a:rPr sz="1100" dirty="0">
                <a:solidFill>
                  <a:srgbClr val="1F2A44"/>
                </a:solidFill>
                <a:latin typeface="Calibri"/>
              </a:rPr>
              <a:t>/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experiment.py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—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definicja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modeli</a:t>
            </a:r>
            <a:r>
              <a:rPr sz="1100" dirty="0">
                <a:solidFill>
                  <a:srgbClr val="1F2A44"/>
                </a:solidFill>
                <a:latin typeface="Calibri"/>
              </a:rPr>
              <a:t>, Pipeline,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walidacja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krzyżowa</a:t>
            </a:r>
            <a:r>
              <a:rPr sz="1100" dirty="0">
                <a:solidFill>
                  <a:srgbClr val="1F2A44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eksport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CSV/LaTeX.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src</a:t>
            </a:r>
            <a:r>
              <a:rPr sz="1100" dirty="0">
                <a:solidFill>
                  <a:srgbClr val="1F2A44"/>
                </a:solidFill>
                <a:latin typeface="Calibri"/>
              </a:rPr>
              <a:t>/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wykresy.py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—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wykresy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Plotly (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rozkład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klas</a:t>
            </a:r>
            <a:r>
              <a:rPr sz="1100" dirty="0">
                <a:solidFill>
                  <a:srgbClr val="1F2A44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korelacje</a:t>
            </a:r>
            <a:r>
              <a:rPr sz="1100" dirty="0">
                <a:solidFill>
                  <a:srgbClr val="1F2A44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porównanie</a:t>
            </a:r>
            <a:r>
              <a:rPr sz="1100" dirty="0">
                <a:solidFill>
                  <a:srgbClr val="1F2A44"/>
                </a:solidFill>
                <a:latin typeface="Calibri"/>
              </a:rPr>
              <a:t>,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agregaty</a:t>
            </a:r>
            <a:r>
              <a:rPr sz="1100" dirty="0">
                <a:solidFill>
                  <a:srgbClr val="1F2A44"/>
                </a:solidFill>
                <a:latin typeface="Calibri"/>
              </a:rPr>
              <a:t>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 dirty="0">
                <a:solidFill>
                  <a:srgbClr val="7A1F3A"/>
                </a:solidFill>
                <a:latin typeface="Calibri"/>
              </a:rPr>
              <a:t>• 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streamlit_app.py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—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aplikacja</a:t>
            </a:r>
            <a:r>
              <a:rPr sz="1100" dirty="0">
                <a:solidFill>
                  <a:srgbClr val="1F2A44"/>
                </a:solidFill>
                <a:latin typeface="Calibri"/>
              </a:rPr>
              <a:t> WWW z 4 </a:t>
            </a:r>
            <a:r>
              <a:rPr sz="1100" dirty="0" err="1">
                <a:solidFill>
                  <a:srgbClr val="1F2A44"/>
                </a:solidFill>
                <a:latin typeface="Calibri"/>
              </a:rPr>
              <a:t>zakładkami</a:t>
            </a:r>
            <a:r>
              <a:rPr sz="1100" dirty="0">
                <a:solidFill>
                  <a:srgbClr val="1F2A44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Pipeline scikit-learn — fundament rozwiązania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„Taśma produkcyjna”: skalowanie → klasyfikator w jednym obiekcie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1430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Pipeline to obiekt, który łączy w całość kilka kroków obróbki danych. Daje to dwie korzyści: kod jest czytelniejszy, a — co ważniejsze — wszystkie kroki są wykonywane w prawidłowej kolejności i tylko na danych treningowych, co eliminuje ryzyko wycieku danych.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6400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7A1F3A"/>
                </a:solidFill>
                <a:latin typeface="Calibri"/>
              </a:rPr>
              <a:t>Definicja w kodzie (src/experiment.py):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68880"/>
            <a:ext cx="6400800" cy="21945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606040"/>
            <a:ext cx="6126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CE3D0"/>
                </a:solidFill>
                <a:latin typeface="Consolas"/>
              </a:rPr>
              <a:t>Pipeline([</a:t>
            </a:r>
          </a:p>
          <a:p>
            <a:r>
              <a:rPr sz="1300">
                <a:solidFill>
                  <a:srgbClr val="ECE3D0"/>
                </a:solidFill>
                <a:latin typeface="Consolas"/>
              </a:rPr>
              <a:t>    ("preprocess", ColumnTransformer([</a:t>
            </a:r>
          </a:p>
          <a:p>
            <a:r>
              <a:rPr sz="1300">
                <a:solidFill>
                  <a:srgbClr val="ECE3D0"/>
                </a:solidFill>
                <a:latin typeface="Consolas"/>
              </a:rPr>
              <a:t>        ("num", MinMaxScaler(), feature_cols)</a:t>
            </a:r>
          </a:p>
          <a:p>
            <a:r>
              <a:rPr sz="1300">
                <a:solidFill>
                  <a:srgbClr val="ECE3D0"/>
                </a:solidFill>
                <a:latin typeface="Consolas"/>
              </a:rPr>
              <a:t>    ], remainder="drop")),</a:t>
            </a:r>
          </a:p>
          <a:p>
            <a:r>
              <a:rPr sz="1300">
                <a:solidFill>
                  <a:srgbClr val="ECE3D0"/>
                </a:solidFill>
                <a:latin typeface="Consolas"/>
              </a:rPr>
              <a:t>    ("clf", estymator),</a:t>
            </a:r>
          </a:p>
          <a:p>
            <a:r>
              <a:rPr sz="1300">
                <a:solidFill>
                  <a:srgbClr val="ECE3D0"/>
                </a:solidFill>
                <a:latin typeface="Consolas"/>
              </a:rPr>
              <a:t>])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103120"/>
            <a:ext cx="4389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7A1F3A"/>
                </a:solidFill>
                <a:latin typeface="Calibri"/>
              </a:rPr>
              <a:t>Co to robi krok po kroku?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468880"/>
            <a:ext cx="43891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ColumnTransformer wybiera kolumny do obróbki (wszystkie 11 cech).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MinMaxScaler skaluje liczby do zakresu [0, 1].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Klasyfikator dostaje już ujednolicone dane.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Cały Pipeline zachowuje się jak jeden model — można go uczyć i testować.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7A1F3A"/>
                </a:solidFill>
                <a:latin typeface="Calibri"/>
              </a:rPr>
              <a:t>Dlaczego MinMaxScaler? — wyjaśnienie na przykładzie: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Cechy mają bardzo różne skale: alkohol jest w przedziale ok. 8–14 (% obj.), ale całkowity dwutlenek siarki sięga 6–289 mg/L. Jeśli nie ujednolicimy tych liczb, niektóre algorytmy (zwłaszcza k-NN, który mierzy odległości) potraktują dwutlenek siarki jako 30× ważniejszy niż alkohol — bo jego wartości są po prostu większe. MinMaxScaler skaluje WSZYSTKIE cechy do zakresu [0, 1], przez co stają się porównywalne.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Trzy rodziny modeli — kto jak myśli?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Każda rodzina to inny sposób uczenia się; każdą testujemy w 3 wariantach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143000"/>
            <a:ext cx="3840480" cy="45720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35661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Decision Tree (drzewo decyzyjne)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00200"/>
            <a:ext cx="3840480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709928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7A1F3A"/>
                </a:solidFill>
                <a:latin typeface="Calibri"/>
              </a:rPr>
              <a:t>Idea działania: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02536"/>
            <a:ext cx="3566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Zadaje pytania typu „czy alkohol &gt; 10%?” i schodzi gałęziami w dół, aż dotrze do liścia z odpowiedzią. Działa jak gra w 20 pytań.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27248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7A1F3A"/>
                </a:solidFill>
                <a:latin typeface="Calibri"/>
              </a:rPr>
              <a:t>Trzy warianty: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19856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nsolas"/>
              </a:rPr>
              <a:t>•  dt_gleb_5    max_depth=5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12464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nsolas"/>
              </a:rPr>
              <a:t>•  dt_gleb_15  max_depth=15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005072"/>
            <a:ext cx="34747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nsolas"/>
              </a:rPr>
              <a:t>•  dt_gleb_25  max_depth=25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453128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7A1F3A"/>
                </a:solidFill>
                <a:latin typeface="Calibri"/>
              </a:rPr>
              <a:t>Co zmienia hiperparametr?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45736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max_depth = ile pytań może zadać. Płytkie drzewo (5) jest proste, głębokie (25) zapamiętuje szczegóły — ryzyko przeuczenia.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143000"/>
            <a:ext cx="3657600" cy="4572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1207008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k-NN (k najbliższych sąsiadów)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1600200"/>
            <a:ext cx="3657600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34840" y="1709928"/>
            <a:ext cx="3383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Calibri"/>
              </a:rPr>
              <a:t>Idea działania: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2002536"/>
            <a:ext cx="33832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Dla nowego wina szuka „k” najbardziej podobnych win w bazie. Patrzy, jakie one mają oceny, i wybiera tę, która występuje najczęściej.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127248"/>
            <a:ext cx="3383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Calibri"/>
              </a:rPr>
              <a:t>Trzy warianty: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3419856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nsolas"/>
              </a:rPr>
              <a:t>•  knn_k5    n_neighbors=5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3712464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nsolas"/>
              </a:rPr>
              <a:t>•  knn_k11  n_neighbors=11, weights=distance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4005072"/>
            <a:ext cx="329184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nsolas"/>
              </a:rPr>
              <a:t>•  knn_k21  n_neighbors=21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453128"/>
            <a:ext cx="3383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C9A227"/>
                </a:solidFill>
                <a:latin typeface="Calibri"/>
              </a:rPr>
              <a:t>Co zmienia hiperparametr?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4745736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k = ilu sąsiadów pytamy. Małe k = wrażliwe na szum, duże k = uśrednione. weights=distance = bliżsi sąsiedzi mają większy głos.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720" y="1143000"/>
            <a:ext cx="3749039" cy="4572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83880" y="1207008"/>
            <a:ext cx="3474719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Random Forest (las losowy)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1600200"/>
            <a:ext cx="3749039" cy="5029200"/>
          </a:xfrm>
          <a:prstGeom prst="rect">
            <a:avLst/>
          </a:prstGeom>
          <a:solidFill>
            <a:srgbClr val="FFFFFF"/>
          </a:solidFill>
          <a:ln w="15240">
            <a:solidFill>
              <a:srgbClr val="1F2A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83880" y="1709928"/>
            <a:ext cx="347471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1F2A44"/>
                </a:solidFill>
                <a:latin typeface="Calibri"/>
              </a:rPr>
              <a:t>Idea działania: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80" y="2002536"/>
            <a:ext cx="347471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Buduje wiele drzew, każde widzi tylko fragment danych. Drzewa głosują — odpowiedź lasu to większość. Mądrość tłumu.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3127248"/>
            <a:ext cx="347471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1F2A44"/>
                </a:solidFill>
                <a:latin typeface="Calibri"/>
              </a:rPr>
              <a:t>Trzy warianty: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419856"/>
            <a:ext cx="3383279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nsolas"/>
              </a:rPr>
              <a:t>•  rf_50    n_estimators=50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3712464"/>
            <a:ext cx="3383279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nsolas"/>
              </a:rPr>
              <a:t>•  rf_100  n_estimators=100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005072"/>
            <a:ext cx="3383279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0" i="0">
                <a:solidFill>
                  <a:srgbClr val="1F2A44"/>
                </a:solidFill>
                <a:latin typeface="Consolas"/>
              </a:rPr>
              <a:t>•  rf_200  n_estimators=200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4453128"/>
            <a:ext cx="3474719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000" b="1" i="0">
                <a:solidFill>
                  <a:srgbClr val="1F2A44"/>
                </a:solidFill>
                <a:latin typeface="Calibri"/>
              </a:rPr>
              <a:t>Co zmienia hiperparametr?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80" y="4745736"/>
            <a:ext cx="347471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n_estimators = ile drzew w lesie. Więcej drzew = stabilniej, ale wolniej. Każde drzewo pomaga się nawzajem korygować.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Walidacja krzyżowa 5-fold — uczciwy test modelu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Każdy model oceniany na 5 niezależnych podziałach danych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Po co? Gdybyśmy podzielili dane raz (np. 80% trening, 20% test), wynik mógłby być przypadkiem — zależałby od tego, które wina trafiły do testu. Walidacja krzyżowa robi to PIĘĆ razy z różnymi podziałami i podaje średnią. Wynik jest dużo bardziej wiarygodny.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7A1F3A"/>
                </a:solidFill>
                <a:latin typeface="Calibri"/>
              </a:rPr>
              <a:t>Wizualizacja — jak wyglądają podziały: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2578608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Fold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514600"/>
            <a:ext cx="1874520" cy="36576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05840" y="25877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5146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25877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5146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46320" y="25877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0" y="25146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0" y="25877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0" y="25146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25877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3035808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Fold 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29718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05840" y="30449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2971800"/>
            <a:ext cx="1874520" cy="36576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926080" y="30449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29718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30449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29718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0" y="30449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29718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0" y="30449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3493008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Fold 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34290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5840" y="35021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926080" y="34290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926080" y="35021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46320" y="3429000"/>
            <a:ext cx="1874520" cy="36576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846320" y="35021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34290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766560" y="35021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686800" y="34290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686800" y="35021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3950208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Fold 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05840" y="38862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05840" y="39593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38862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2926080" y="39593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46320" y="38862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846320" y="39593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766560" y="3886200"/>
            <a:ext cx="1874520" cy="36576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66560" y="39593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686800" y="38862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686800" y="39593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" y="4407408"/>
            <a:ext cx="640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1" i="0">
                <a:solidFill>
                  <a:srgbClr val="1F2A44"/>
                </a:solidFill>
                <a:latin typeface="Calibri"/>
              </a:rPr>
              <a:t>Fold 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" y="43434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05840" y="44165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926080" y="43434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926080" y="44165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6320" y="43434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846320" y="44165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66560" y="4343400"/>
            <a:ext cx="1874520" cy="3657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766560" y="44165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686800" y="4343400"/>
            <a:ext cx="1874520" cy="36576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686800" y="4416552"/>
            <a:ext cx="187452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7A1F3A"/>
                </a:solidFill>
                <a:latin typeface="Calibri"/>
              </a:rPr>
              <a:t>Dlaczego stratyfikacja (StratifiedKFold)?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53492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Pamiętaj — wina ocenione na 3 lub 8 są bardzo rzadkie. Gdybyśmy podzielili losowo, mogłoby się zdarzyć, że wszystkie wina z oceną 8 trafią do treningu, a w teście nie będzie ani jednego. Stratyfikacja PILNUJE, żeby w każdej z 5 części proporcje ocen były takie same jak w całym zbiorze. Dzięki temu test zawsze widzi wszystkie klasy.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Zespół predykcyjny — Majority Voting (głosowanie większościowe)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9 modeli głosuje, wygrywa klasa z największą liczbą głosów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Pomysł jest prosty jak głosowanie w demokracji: każdy z 9 modeli patrzy na nowe wino i mówi swoją ocenę. Liczymy głosy. Klasa z największą liczbą głosów wygrywa. To „mądrość tłumu” — zespół często myli się rzadziej niż pojedynczy członek.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393192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7A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2194560"/>
            <a:ext cx="36576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7A1F3A"/>
                </a:solidFill>
                <a:latin typeface="Calibri"/>
              </a:rPr>
              <a:t>Krok 1 — 9 modeli oddaje głos: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0604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onsolas"/>
              </a:rPr>
              <a:t>dt_gleb_5  →  klasa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onsolas"/>
              </a:rPr>
              <a:t>dt_gleb_15 →  klasa 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3756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onsolas"/>
              </a:rPr>
              <a:t>dt_gleb_25 →  klasa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onsolas"/>
              </a:rPr>
              <a:t>knn_k5     →  klasa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6908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onsolas"/>
              </a:rPr>
              <a:t>knn_k11    →  klasa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3484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onsolas"/>
              </a:rPr>
              <a:t>knn_k21    →  klasa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80060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onsolas"/>
              </a:rPr>
              <a:t>rf_50      →  klasa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16636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onsolas"/>
              </a:rPr>
              <a:t>rf_100     →  klasa 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532120"/>
            <a:ext cx="35661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onsolas"/>
              </a:rPr>
              <a:t>rf_200     →  klasa 6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572000" y="3840480"/>
            <a:ext cx="365760" cy="365760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0" y="2834640"/>
            <a:ext cx="3383280" cy="2286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66360" y="2971800"/>
            <a:ext cx="31089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Krok 2 — liczenie głosów: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383280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klasa 5:  3 głosy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3840480"/>
            <a:ext cx="30175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onsolas"/>
              </a:rPr>
              <a:t>klasa 6:  6 głosów  ← większość!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389120"/>
            <a:ext cx="30175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1">
                <a:solidFill>
                  <a:srgbClr val="ECE3D0"/>
                </a:solidFill>
                <a:latin typeface="Calibri"/>
              </a:rPr>
              <a:t>Większość wygrywa.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595360" y="3840480"/>
            <a:ext cx="365760" cy="365760"/>
          </a:xfrm>
          <a:prstGeom prst="rightArrow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9052560" y="2834640"/>
            <a:ext cx="2743200" cy="228600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144000" y="3017520"/>
            <a:ext cx="2560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Krok 3 — wynik: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3657600"/>
            <a:ext cx="2560320" cy="5486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3200" b="1" i="0">
                <a:solidFill>
                  <a:srgbClr val="C9A227"/>
                </a:solidFill>
                <a:latin typeface="Calibri"/>
              </a:rPr>
              <a:t>klasa 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4434840"/>
            <a:ext cx="25603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000" b="0" i="1">
                <a:solidFill>
                  <a:srgbClr val="ECE3D0"/>
                </a:solidFill>
                <a:latin typeface="Calibri"/>
              </a:rPr>
              <a:t>ostateczna ocena zespołu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200" b="1" i="0">
                <a:solidFill>
                  <a:srgbClr val="1F2A44"/>
                </a:solidFill>
                <a:latin typeface="Consolas"/>
              </a:rPr>
              <a:t>Kod:  VotingClassifier(estimators=[9 Pipeline'ów], voting="hard")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Wyciek danych (data leakage) — najczęstszy błąd w uczeniu maszynowym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Czym jest, dlaczego psuje wyniki i jak go uniknięto w tym projekcie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Wyciek danych występuje wtedy, gdy informacja ze zbioru testowego „przecieka” do treningu. Model wówczas sztucznie zna odpowiedzi i podaje wyniki LEPSZE niż w rzeczywistości — w produkcji okaże się dużo gorszy. Oto przykład typowego błędu: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6596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965960"/>
            <a:ext cx="5577840" cy="365760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020824"/>
            <a:ext cx="53949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ŹLE — klasyczny wyciek danych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42316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A44"/>
                </a:solidFill>
                <a:latin typeface="Consolas"/>
              </a:rPr>
              <a:t>scaler = MinMaxScaler()</a:t>
            </a:r>
          </a:p>
          <a:p>
            <a:r>
              <a:rPr sz="1100">
                <a:solidFill>
                  <a:srgbClr val="1F2A44"/>
                </a:solidFill>
                <a:latin typeface="Consolas"/>
              </a:rPr>
              <a:t>X = scaler.fit_transform(X)   # cały zbiór!</a:t>
            </a:r>
          </a:p>
          <a:p>
            <a:r>
              <a:rPr sz="1100">
                <a:solidFill>
                  <a:srgbClr val="1F2A44"/>
                </a:solidFill>
                <a:latin typeface="Consolas"/>
              </a:rPr>
              <a:t>scores = cross_val_score(clf, X, y, cv=5)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747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B71C1C"/>
                </a:solidFill>
                <a:latin typeface="Calibri"/>
              </a:rPr>
              <a:t>Skaler poznaje min/max ze WSZYSTKICH danych — czyli także z testu. Test pomógł w skalowaniu, więc wynik jest zafałszowany.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965960"/>
            <a:ext cx="5577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26480" y="1965960"/>
            <a:ext cx="5577840" cy="3657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2020824"/>
            <a:ext cx="53949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DOBRZE — sposób użyty w tym projekcie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42316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A44"/>
                </a:solidFill>
                <a:latin typeface="Consolas"/>
              </a:rPr>
              <a:t>pipe = Pipeline([</a:t>
            </a:r>
          </a:p>
          <a:p>
            <a:r>
              <a:rPr sz="1100">
                <a:solidFill>
                  <a:srgbClr val="1F2A44"/>
                </a:solidFill>
                <a:latin typeface="Consolas"/>
              </a:rPr>
              <a:t>    ("preprocess", MinMaxScaler()),</a:t>
            </a:r>
          </a:p>
          <a:p>
            <a:r>
              <a:rPr sz="1100">
                <a:solidFill>
                  <a:srgbClr val="1F2A44"/>
                </a:solidFill>
                <a:latin typeface="Consolas"/>
              </a:rPr>
              <a:t>    ("clf", estymator),</a:t>
            </a:r>
          </a:p>
          <a:p>
            <a:r>
              <a:rPr sz="1100">
                <a:solidFill>
                  <a:srgbClr val="1F2A44"/>
                </a:solidFill>
                <a:latin typeface="Consolas"/>
              </a:rPr>
              <a:t>])</a:t>
            </a:r>
          </a:p>
          <a:p>
            <a:r>
              <a:rPr sz="1100">
                <a:solidFill>
                  <a:srgbClr val="1F2A44"/>
                </a:solidFill>
                <a:latin typeface="Consolas"/>
              </a:rPr>
              <a:t>cross_validate(pipe, X, y, cv=cv, ...)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37033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2E7D32"/>
                </a:solidFill>
                <a:latin typeface="Calibri"/>
              </a:rPr>
              <a:t>Skaler fitowany TYLKO na foldzie treningowej w każdej iteracji. Test pozostaje nietknięty.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976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Pełna lista zabezpieczeń w projekcie (6 punktów):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09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MinMaxScaler wewnątrz Pipeline → fit tylko na X_train w każdej z 5 foldów.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Wszystkie 9 składników VotingClassifier to osobne Pipeline'y → ensemble też bez wycieku.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Brak imputacji średnią — sprawdzamy isna() i blokujemy eksperyment, jeśli są braki.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Macierz korelacji w EDA wyłącznie do oglądania — nie wybieramy na jej podstawie cech.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Kolumna Id usunięta przed treningiem — to identyfikator wiersza, nie cecha próbki.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1">
                <a:solidFill>
                  <a:srgbClr val="2E7D32"/>
                </a:solidFill>
                <a:latin typeface="Calibri"/>
              </a:rPr>
              <a:t>•  </a:t>
            </a:r>
            <a:r>
              <a:rPr sz="1200">
                <a:solidFill>
                  <a:srgbClr val="1F2A44"/>
                </a:solidFill>
                <a:latin typeface="Calibri"/>
              </a:rPr>
              <a:t>Stratyfikacja zachowuje rozkład klas — train i test zawsze widzą wszystkie etykiety.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Odtwarzalność wyników (reproducibility)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Każdy uruchamiający projekt powinien dostać IDENTYCZNE liczby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Wiele algorytmów uczenia maszynowego używa losowości (np. losowy podział na foldy, losowe drzewa w lesie). Bez kontroli ta losowość powodowałaby, że za każdym uruchomieniem dostalibyśmy nieco inne wyniki. Tego się unika trzema technikami: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3657600" cy="4572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2157984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Stały seed losowości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69748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7A1F3A"/>
                </a:solidFill>
                <a:latin typeface="Consolas"/>
              </a:rPr>
              <a:t>RANDOM_STATE = 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Jedna stała w pliku src/config.py używana w każdym losowym komponencie: drzewa, Random Forest, dzielenie na foldy. Tasowanie zawsze daje ten sam wynik.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10312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43400" y="2103120"/>
            <a:ext cx="3657600" cy="4572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2157984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Wspólny obiekt CV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69748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7A1F3A"/>
                </a:solidFill>
                <a:latin typeface="Consolas"/>
              </a:rPr>
              <a:t>cv = StratifiedKFold(...)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2004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Tworzymy jeden obiekt walidacji i przekazujemy go do KAŻDEGO testu. Dzięki temu wszystkie 9 modeli i zespół są oceniane na DOKŁADNIE tych samych podziałach — porównanie jest uczciwe.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103120"/>
            <a:ext cx="3657600" cy="3017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0" y="2103120"/>
            <a:ext cx="3657600" cy="4572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2157984"/>
            <a:ext cx="3383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Zapis wersji bibliotek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97480"/>
            <a:ext cx="338328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7A1F3A"/>
                </a:solidFill>
                <a:latin typeface="Consolas"/>
              </a:rPr>
              <a:t>wersje_bibliotek.txt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20040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Plik tworzony przy każdym uruchomieniu. Notuje wersje scikit-learn 1.8.0, numpy 2.4.4, pandas 2.3.3 — można odtworzyć identyczne środowisko.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34924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Dlaczego shuffle=True wymaga seeda?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607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StratifiedKFold(shuffle=True) tasuje próbki przed podziałem na foldy. Bez random_state każde uruchomienie dawałoby inne tasowanie i inne podziały. Z seedem: identyczna kolejność tasowania → ten sam podział → ten sam wynik za każdym razem.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Wyniki — porównanie 9 modeli + zespołu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Średnia z 5 foldów ± odchylenie standardowe (paski błędu)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16</a:t>
            </a:r>
          </a:p>
        </p:txBody>
      </p:sp>
      <p:pic>
        <p:nvPicPr>
          <p:cNvPr id="10" name="Picture 9" descr="img_mode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1430000" cy="54032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576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555B6E"/>
                </a:solidFill>
                <a:latin typeface="Calibri"/>
              </a:rPr>
              <a:t>Lewy panel pokazuje accuracy (procent trafień), prawy — balanced_accuracy (uczciwa miara dla rzadkich klas). Każdy słupek = jeden model. Czarne pionowe kreski to słupki błędu — pokazują, jak bardzo wynik zmienia się między 5 foldami (im krótsze, tym stabilniejszy model).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Wyniki szczegółowe — tabela liczb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Wszystkie 10 wierszy (9 modeli bazowych + zespół Majority Voting)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555B6E"/>
                </a:solidFill>
                <a:latin typeface="Calibri"/>
              </a:rPr>
              <a:t>Tabela pochodzi z pliku wyniki_szczegolowe.tex. Kolumny: średnia (_mean) i odchylenie standardowe (_std) z 5 foldów dla obu metryk.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60020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Rodzina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 mean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Acc std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BalAcc mean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BalAcc std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dt_gleb_5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DecisionTree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0.5660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0.0069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0.2738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0.0115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dt_gleb_15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DecisionTree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0.5940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0.0161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0.3053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0.0205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dt_gleb_25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DecisionTree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0.5625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0.0183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0.2717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0.0129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knn_k5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0.5521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0.0241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0.2621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0.0214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knn_k11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0.6387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0.3421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knn_k21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kNN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0.5739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0.0218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0.2625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0.0129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rf_50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RandomForest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0.6483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0.0227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0.3216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0.0335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rf_100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RandomForest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0.6571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0.0263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0.3446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1F2A44"/>
                          </a:solidFill>
                          <a:latin typeface="Calibri"/>
                        </a:rPr>
                        <a:t>0.0336</a:t>
                      </a:r>
                    </a:p>
                  </a:txBody>
                  <a:tcPr>
                    <a:solidFill>
                      <a:srgbClr val="FBF7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407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rf_200</a:t>
                      </a:r>
                    </a:p>
                  </a:txBody>
                  <a:tcPr>
                    <a:solidFill>
                      <a:srgbClr val="7A1F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RandomForest</a:t>
                      </a:r>
                    </a:p>
                  </a:txBody>
                  <a:tcPr>
                    <a:solidFill>
                      <a:srgbClr val="7A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0.6719</a:t>
                      </a:r>
                    </a:p>
                  </a:txBody>
                  <a:tcPr>
                    <a:solidFill>
                      <a:srgbClr val="7A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0.0326</a:t>
                      </a:r>
                    </a:p>
                  </a:txBody>
                  <a:tcPr>
                    <a:solidFill>
                      <a:srgbClr val="7A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0.3530</a:t>
                      </a:r>
                    </a:p>
                  </a:txBody>
                  <a:tcPr>
                    <a:solidFill>
                      <a:srgbClr val="7A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0.0375</a:t>
                      </a:r>
                    </a:p>
                  </a:txBody>
                  <a:tcPr>
                    <a:solidFill>
                      <a:srgbClr val="7A1F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4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majority_voting_9</a:t>
                      </a:r>
                    </a:p>
                  </a:txBody>
                  <a:tcPr>
                    <a:solidFill>
                      <a:srgbClr val="ECE3D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Ensemble</a:t>
                      </a:r>
                    </a:p>
                  </a:txBody>
                  <a:tcPr>
                    <a:solidFill>
                      <a:srgbClr val="ECE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0.6597</a:t>
                      </a:r>
                    </a:p>
                  </a:txBody>
                  <a:tcPr>
                    <a:solidFill>
                      <a:srgbClr val="ECE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0.0172</a:t>
                      </a:r>
                    </a:p>
                  </a:txBody>
                  <a:tcPr>
                    <a:solidFill>
                      <a:srgbClr val="ECE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0.3283</a:t>
                      </a:r>
                    </a:p>
                  </a:txBody>
                  <a:tcPr>
                    <a:solidFill>
                      <a:srgbClr val="ECE3D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F2A44"/>
                          </a:solidFill>
                          <a:latin typeface="Calibri"/>
                        </a:rPr>
                        <a:t>0.0286</a:t>
                      </a:r>
                    </a:p>
                  </a:txBody>
                  <a:tcPr>
                    <a:solidFill>
                      <a:srgbClr val="ECE3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58521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>
                <a:solidFill>
                  <a:srgbClr val="555B6E"/>
                </a:solidFill>
                <a:latin typeface="Calibri"/>
              </a:rPr>
              <a:t>Bordowy wiersz = najlepszy model pojedynczy (rf_200 z accuracy 0.6719). Beżowy = zespół Majority Voting. Niższe std (0.0172) oznacza, że zespół jest najBARDZIEJ stabilny między foldami.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Ranking rodzin modeli + interpretacja wyników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Średnie i maksima dla każdej z 3 rodzin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18</a:t>
            </a:r>
          </a:p>
        </p:txBody>
      </p:sp>
      <p:pic>
        <p:nvPicPr>
          <p:cNvPr id="10" name="Picture 9" descr="img_agrega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400800" cy="34137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040880" y="1143000"/>
            <a:ext cx="493776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7A1F3A"/>
                </a:solidFill>
                <a:latin typeface="Calibri"/>
              </a:rPr>
              <a:t>Ranking (accuracy):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40880" y="1554480"/>
            <a:ext cx="49377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040880" y="1554480"/>
            <a:ext cx="109728" cy="77724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1645920"/>
            <a:ext cx="3657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i="0">
                <a:solidFill>
                  <a:srgbClr val="7A1F3A"/>
                </a:solidFill>
                <a:latin typeface="Calibri"/>
              </a:rP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664208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1965960"/>
            <a:ext cx="4389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średnia: 0.6591   |   maksimum: 0.6719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2423160"/>
            <a:ext cx="49377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040880" y="2423160"/>
            <a:ext cx="109728" cy="77724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23760" y="2514600"/>
            <a:ext cx="3657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libri"/>
              </a:rPr>
              <a:t>2.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532888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kNN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834640"/>
            <a:ext cx="4389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średnia: 0.5882   |   maksimum: 0.6387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3291839"/>
            <a:ext cx="493776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040880" y="3291839"/>
            <a:ext cx="109728" cy="7772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0" y="3383279"/>
            <a:ext cx="36576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000" b="1" i="0">
                <a:solidFill>
                  <a:srgbClr val="1F2A44"/>
                </a:solidFill>
                <a:latin typeface="Calibri"/>
              </a:rPr>
              <a:t>3.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3401567"/>
            <a:ext cx="24688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1F2A44"/>
                </a:solidFill>
                <a:latin typeface="Calibri"/>
              </a:rPr>
              <a:t>Decision Tree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3703319"/>
            <a:ext cx="438912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100" b="0" i="0">
                <a:solidFill>
                  <a:srgbClr val="555B6E"/>
                </a:solidFill>
                <a:latin typeface="Calibri"/>
              </a:rPr>
              <a:t>średnia: 0.5742   |   maksimum: 0.5940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Interpretacja — co mówią nam liczby?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61772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Najlepszy pojedynczy model: rf_200 — accuracy 0.6719, balanced_accuracy 0.3530.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Random Forest dominuje — wszystkie 3 warianty są w czołówce (0.6483, 0.6571, 0.6719).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k-NN: ogromny skok przy k=11 z weights="distance" (0.6387 vs 0.5521 dla k=5).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Decision Tree najsłabszy — pojedyncze drzewo nie radzi sobie z niezbalansowanym zbiorem.</a:t>
            </a: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100" b="1">
                <a:solidFill>
                  <a:srgbClr val="7A1F3A"/>
                </a:solidFill>
                <a:latin typeface="Calibri"/>
              </a:rPr>
              <a:t>•  </a:t>
            </a:r>
            <a:r>
              <a:rPr sz="1100">
                <a:solidFill>
                  <a:srgbClr val="1F2A44"/>
                </a:solidFill>
                <a:latin typeface="Calibri"/>
              </a:rPr>
              <a:t>Zespół: 0.6597 — lepszy od średniej, ale słabszy niż rf_200; za to NAJSTABILNIEJSZY (std=0.0172).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Wygenerowane artefakty + aplikacja Streamlit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Wszystko co tworzy projekt — i jak to oglądać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97280"/>
            <a:ext cx="56692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Pliki w katalogu results/: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08760"/>
            <a:ext cx="5669280" cy="329184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1527048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Tabele liczbowe (CSV)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187452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wyniki_szczegolowe.csv (10 wierszy), wyniki_agregaty_rodzin.csv (3 wiersze).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5669280" cy="32918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532888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Pliki LaTeX (do pracy magisterskiej)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880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wyniki_szczegolowe.tex, wyniki_agregaty_rodzin.tex — gotowe tabele do raportu.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20440"/>
            <a:ext cx="5669280" cy="329184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3538728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Wykresy interaktywne (Plotly HTML)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8862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01_rozkald_jakosci.html, 02_macierz_korelacji.html, 03_porownanie_modeli.html, 04_agregaty_rodzin.html.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26280"/>
            <a:ext cx="5669280" cy="329184"/>
          </a:xfrm>
          <a:prstGeom prst="rect">
            <a:avLst/>
          </a:prstGeom>
          <a:solidFill>
            <a:srgbClr val="555B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4360" y="4544568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Metadane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89204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1F2A44"/>
                </a:solidFill>
                <a:latin typeface="Calibri"/>
              </a:rPr>
              <a:t>wersje_bibliotek.txt — scikit-learn 1.8.0, numpy 2.4.4, pandas 2.3.3.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Aplikacja Streamlit — interaktywny podgląd wyników: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463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>
                <a:solidFill>
                  <a:srgbClr val="1F2A44"/>
                </a:solidFill>
                <a:latin typeface="Calibri"/>
              </a:rPr>
              <a:t>Uruchomienie: ./start.sh (Linux/macOS) lub start.bat (Windows). Otwiera stronę w przeglądarce z 4 zakładkami: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233172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2331720"/>
            <a:ext cx="137160" cy="86868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29400" y="240487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7A1F3A"/>
                </a:solidFill>
                <a:latin typeface="Calibri"/>
              </a:rPr>
              <a:t>Zakładka 1: Opis projektu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2697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555B6E"/>
                </a:solidFill>
                <a:latin typeface="Calibri"/>
              </a:rPr>
              <a:t>Cel, słownik pojęć, zgodność z wymaganiami, podgląd plików .tex.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29184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0" y="3291840"/>
            <a:ext cx="137160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9400" y="336499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libri"/>
              </a:rPr>
              <a:t>Zakładka 2: Wymogi i metodologia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9400" y="365760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555B6E"/>
                </a:solidFill>
                <a:latin typeface="Calibri"/>
              </a:rPr>
              <a:t>Tabela: wymaganie → konkretne miejsce w kodzie.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25196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0" y="4251960"/>
            <a:ext cx="137160" cy="868680"/>
          </a:xfrm>
          <a:prstGeom prst="rect">
            <a:avLst/>
          </a:prstGeom>
          <a:solidFill>
            <a:srgbClr val="7A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29400" y="432511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7A1F3A"/>
                </a:solidFill>
                <a:latin typeface="Calibri"/>
              </a:rPr>
              <a:t>Zakładka 3: Zbiór danych (EDA)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61772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555B6E"/>
                </a:solidFill>
                <a:latin typeface="Calibri"/>
              </a:rPr>
              <a:t>Statystyki, wykres rozkładu, macierz korelacji, podgląd 15 wierszy.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212080"/>
            <a:ext cx="5486400" cy="868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400800" y="5212080"/>
            <a:ext cx="137160" cy="86868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5285232"/>
            <a:ext cx="52120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1F2A44"/>
                </a:solidFill>
                <a:latin typeface="Calibri"/>
              </a:rPr>
              <a:t>Zakładka 4: Wyniki klasyfikacji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557784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>
                <a:solidFill>
                  <a:srgbClr val="555B6E"/>
                </a:solidFill>
                <a:latin typeface="Calibri"/>
              </a:rPr>
              <a:t>Wykresy z CV, tabele, podgląd .tex, przyciski pobierania.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2296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277295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Podsumowanie projektu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"/>
            <a:ext cx="11277295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alibri"/>
              </a:rPr>
              <a:t>Co udało się zrobić — najważniejsze wnioski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92824"/>
            <a:ext cx="73152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900" b="0" i="0">
                <a:solidFill>
                  <a:srgbClr val="ECE3D0"/>
                </a:solidFill>
                <a:latin typeface="Calibri"/>
              </a:rPr>
              <a:t>Wine Quality • Klasyfikacja wieloklasowa • Temat 7 • Dawid Olko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592824"/>
            <a:ext cx="914400" cy="27432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r"/>
            <a:r>
              <a:rPr sz="900" b="1" i="0">
                <a:solidFill>
                  <a:srgbClr val="C9A227"/>
                </a:solidFill>
                <a:latin typeface="Calibr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0972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Wszystkie wymagania polecenia — spełnione w 100%: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554480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59105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Zbiór z Kaggle (Wine Quality, nie Iris).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011680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1993392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04825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Sprawdzenie braków w danych przed treningiem.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468880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450592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250545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MinMaxScaler wewnątrz Pipeline — bez wycieku.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926080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2907792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296265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Stratyfikowana 5-fold cross-validation.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383280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364992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41985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9 modeli bazowych: 3 rodziny × 3 warianty.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554480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09360" y="1536192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159105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Zespół Majority Voting (VotingClassifier).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2011680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09360" y="1993392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204825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Metryki: accuracy + balanced_accuracy.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09360" y="2468880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309360" y="2450592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250545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Pandas: groupby, agg, to_latex (.tex).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2926080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2907792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296265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Odtwarzalność: RANDOM_STATE, ten sam cv.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3383280"/>
            <a:ext cx="292608" cy="29260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309360" y="3364992"/>
            <a:ext cx="292608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419856"/>
            <a:ext cx="50292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1F2A44"/>
                </a:solidFill>
                <a:latin typeface="Calibri"/>
              </a:rPr>
              <a:t>Aplikacja Streamlit z 4 zakładkami.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080" y="4023360"/>
            <a:ext cx="10972800" cy="146304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77240" y="4114800"/>
            <a:ext cx="1069848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Najważniejsze liczby: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4526280"/>
            <a:ext cx="53035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Najlepszy model:  rf_200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4846320"/>
            <a:ext cx="530352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onsolas"/>
              </a:rPr>
              <a:t>accuracy = 0.6719   |   balanced_accuracy = 0.3530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526280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Zespół Majority Voting: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846320"/>
            <a:ext cx="5120640" cy="4572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200" b="0" i="0">
                <a:solidFill>
                  <a:srgbClr val="ECE3D0"/>
                </a:solidFill>
                <a:latin typeface="Consolas"/>
              </a:rPr>
              <a:t>accuracy = 0.6597   |   std = 0.0172  (najstabilniejszy)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l"/>
            <a:r>
              <a:rPr sz="1400" b="1" i="0">
                <a:solidFill>
                  <a:srgbClr val="7A1F3A"/>
                </a:solidFill>
                <a:latin typeface="Calibri"/>
              </a:rPr>
              <a:t>Wniosek końcowy: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035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>
                <a:solidFill>
                  <a:srgbClr val="1F2A44"/>
                </a:solidFill>
                <a:latin typeface="Calibri"/>
              </a:rPr>
              <a:t>Na tym zbiorze danych pojedynczy Random Forest pokonał zespół głosujący — ale zespół był NAJSTABILNIEJSZY. W praktyce to ważna cecha: powtarzalność wyników.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3905</Words>
  <Application>Microsoft Macintosh PowerPoint</Application>
  <PresentationFormat>Widescreen</PresentationFormat>
  <Paragraphs>458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Dawid Olko</cp:lastModifiedBy>
  <cp:revision>9</cp:revision>
  <dcterms:created xsi:type="dcterms:W3CDTF">2013-01-27T09:14:16Z</dcterms:created>
  <dcterms:modified xsi:type="dcterms:W3CDTF">2026-05-11T14:55:08Z</dcterms:modified>
  <cp:category/>
</cp:coreProperties>
</file>